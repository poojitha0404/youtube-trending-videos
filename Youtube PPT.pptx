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1" r:id="rId3"/>
    <p:sldId id="282" r:id="rId4"/>
    <p:sldId id="292" r:id="rId5"/>
    <p:sldId id="280" r:id="rId6"/>
    <p:sldId id="293" r:id="rId7"/>
    <p:sldId id="28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284" r:id="rId18"/>
    <p:sldId id="303" r:id="rId19"/>
    <p:sldId id="304" r:id="rId20"/>
    <p:sldId id="305" r:id="rId21"/>
    <p:sldId id="306" r:id="rId22"/>
    <p:sldId id="307" r:id="rId23"/>
    <p:sldId id="308" r:id="rId24"/>
    <p:sldId id="268" r:id="rId25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984EB15B-47DB-41BC-B6AA-26559F33DBC7}">
          <p14:sldIdLst>
            <p14:sldId id="256"/>
            <p14:sldId id="281"/>
            <p14:sldId id="282"/>
            <p14:sldId id="292"/>
            <p14:sldId id="280"/>
            <p14:sldId id="293"/>
            <p14:sldId id="283"/>
            <p14:sldId id="294"/>
            <p14:sldId id="295"/>
          </p14:sldIdLst>
        </p14:section>
        <p14:section name="Untitled Section" id="{324533C3-CD46-466B-980F-8079E718580A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284"/>
            <p14:sldId id="303"/>
            <p14:sldId id="304"/>
            <p14:sldId id="305"/>
            <p14:sldId id="306"/>
            <p14:sldId id="307"/>
            <p14:sldId id="308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4232" y="6184984"/>
            <a:ext cx="3225396" cy="6095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6516" y="1850749"/>
            <a:ext cx="4465643" cy="28343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4232" y="6184984"/>
            <a:ext cx="3225396" cy="6095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497" y="290587"/>
            <a:ext cx="517017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2353" y="1173612"/>
            <a:ext cx="10441904" cy="4804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14" y="298622"/>
            <a:ext cx="9284524" cy="24378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36928" y="3568420"/>
            <a:ext cx="6664272" cy="2190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YouTube Trending Videos – Exploratory Data Analysis (EDA)</a:t>
            </a:r>
            <a:endParaRPr lang="en-US" sz="2700" spc="-2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700" spc="-20" dirty="0">
                <a:latin typeface="Arial"/>
                <a:cs typeface="Arial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POOJITHA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tch 434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F62F-A3E4-FEC3-9D02-CFF42998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220" y="304800"/>
            <a:ext cx="5170170" cy="553998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BD4F0-C2D1-281C-458E-299EF8B48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53" y="1076960"/>
            <a:ext cx="10441904" cy="524764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is one of the world’s largest video-sharing platforms, where millions of videos are uploaded and watched every day. Among these, only a small percentage reach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Trending section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highlights the most popular and highly-engaged videos at a given time.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performing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Trending Videos 2023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type of content becomes popular?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users engage with trending videos?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categories dominate the trending list?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views, likes, and comments are distributed?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role upload time plays in video performance?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cleaning the dataset, handling missing values, detecting outliers, extracting time-based features, and visualizing patterns, this project uncovers meaningful insights about how videos gain popularity on YouTube.</a:t>
            </a:r>
          </a:p>
          <a:p>
            <a:pPr algn="just"/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4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3D404-6D29-8A35-B223-F9C0DB5CE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609600"/>
            <a:ext cx="6858000" cy="685800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3D6F0-FD6A-499D-ABAA-082229EE2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524000"/>
            <a:ext cx="9067800" cy="4236588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generates a massive amount of video content every day, but only a limited number of videos reach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Trending section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highlights the most popular and highly-engaged videos on the platform. Understanding why certain videos trend while others don’t is a valuable problem for content creators, marketers, brands, and researchers.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Trending algorithm is not publicly known, and video popularity depends on multiple factors such as views, likes, comments, category, upload time, and user interaction patterns.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challenge 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available data and identify the key factors that contribute to a video becoming popular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9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99F95-A681-9AE7-09A1-3A889E056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52" y="533400"/>
            <a:ext cx="10671447" cy="54864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this project aims to address is: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“What patterns, behaviors, and characteristics can be identified in YouTube Trending Videos, and how do these factors influence video popularity?”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 problem, we need to: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raw dataset and prepare it for analysis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engagement metrics (views, likes, comments)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successful categories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effect of upload timing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outliers in video performance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relationships between views, likes, and comments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videos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meaningful insights that explain why certain videos trend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will help uncover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trends, patterns, and user behavior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behind trending videos and provide insights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type of content performs well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YouTube.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65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D5B4-1B9A-0D8E-7932-DA0247AA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10287000" cy="553998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INFORMATION ABOUT THE DATASET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F23B16-AE57-B777-DC28-02521FCF9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1295399"/>
            <a:ext cx="9753600" cy="4572713"/>
          </a:xfrm>
        </p:spPr>
        <p:txBody>
          <a:bodyPr/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dataset about?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contains information about YouTube videos that appeared in the Trending section in the year 2023.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videos are the most popular and highly-watched videos on YouTube.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records does it have?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10,001 video entries.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entry represents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trending video.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kind of information does each video contain?</a:t>
            </a:r>
          </a:p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Details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video.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name (who uploaded it).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(Music, Entertainment, News, etc.)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29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DBFC7-A719-ED25-5E35-0CECC8E5D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53" y="381000"/>
            <a:ext cx="10441904" cy="5878532"/>
          </a:xfrm>
        </p:spPr>
        <p:txBody>
          <a:bodyPr/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Metrics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views.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likes.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comments.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Information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of publishing.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Tags used.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this dataset interesting?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trending videos show what people are actually watching, liking, sharing, and engaging with on YouTube.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analyzing it, we can understand: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type of videos become popular?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creators should upload videos?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categories perform well?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a video go viral?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50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CA8AD-7D5D-3218-08AA-3E036797C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0" y="609600"/>
            <a:ext cx="5032647" cy="533400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  <a:br>
              <a:rPr lang="en-US" sz="3600" b="1" dirty="0"/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CAB95-2FB0-D37C-E518-E780DB7E6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599" y="1371600"/>
            <a:ext cx="10133657" cy="3810000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the number of rows and columns: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Tells how many rows and columns the dataset has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first few records: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Shows the first 5 rows of the dataset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complete information about each column: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df.info()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column names.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datatypes(int, float, object, datetime).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many non null values are present.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detects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363171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293EE6-9409-F91A-5452-E3737D458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914400"/>
            <a:ext cx="10823575" cy="4770537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statistical summary of numeric columns: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df.describe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useful statistics such 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missing values: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Shows number of missing values in each column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duplicate rows: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df.duplicated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Shows how many repeated rows exist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Viewing all column names:</a:t>
            </a: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df.columns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Useful for understanding dataset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71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44E7-D6CC-DB79-8026-D4A5DDD32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53" y="290587"/>
            <a:ext cx="10441904" cy="67710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54AB8-F4BF-010F-69B7-1879BDFFF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53" y="1173613"/>
            <a:ext cx="10441904" cy="4924425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 Rows: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df.drop_duplicates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'].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Types: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['column'].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(int)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date_column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pd.to_datetime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date_column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’])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Columns (if needed):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df.rename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(columns={"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"})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Outliers (IQR Method):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['column'].quantile(0.25)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['column'].quantile(0.75)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IQR = Q3 - Q1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lower_limit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Q1 - 1.5 * IQR</a:t>
            </a:r>
          </a:p>
          <a:p>
            <a:pPr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upper_limit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Q3 + 1.5 * IQR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=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 &lt;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lower_limit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['column'] &gt;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upper_limit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167274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03A543-6D10-7747-2F42-27D1225D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8158"/>
            <a:ext cx="10972800" cy="984885"/>
          </a:xfrm>
        </p:spPr>
        <p:txBody>
          <a:bodyPr/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Univariate Analysis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Distribution of views			    Distribution of likes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9A6F8E-4BDE-1009-120A-27C5F6588E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77340"/>
            <a:ext cx="5303838" cy="4526280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0C325D5-81BF-AEBB-2618-1A44146E016D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3" y="1577340"/>
            <a:ext cx="5303837" cy="4213860"/>
          </a:xfrm>
        </p:spPr>
      </p:pic>
    </p:spTree>
    <p:extLst>
      <p:ext uri="{BB962C8B-B14F-4D97-AF65-F5344CB8AC3E}">
        <p14:creationId xmlns:p14="http://schemas.microsoft.com/office/powerpoint/2010/main" val="2427822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27BD-06DE-AF54-A68C-8C22E813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8936"/>
            <a:ext cx="10972801" cy="49244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Comment count      Number of videos per category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6C60CF-99F4-5591-4C8B-238D93D916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5303838" cy="4526279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98D716-93FC-6FFF-A011-29A86F066B18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3" y="1828800"/>
            <a:ext cx="5303837" cy="4038600"/>
          </a:xfrm>
        </p:spPr>
      </p:pic>
    </p:spTree>
    <p:extLst>
      <p:ext uri="{BB962C8B-B14F-4D97-AF65-F5344CB8AC3E}">
        <p14:creationId xmlns:p14="http://schemas.microsoft.com/office/powerpoint/2010/main" val="198049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7C22-690C-743B-0A30-6AAE868F2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5" y="538936"/>
            <a:ext cx="10984375" cy="49244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Publish Hour         Distribution of Publish Weekday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1AD8ED9-1EF5-873C-7480-4DF0438C5B50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3" y="1676400"/>
            <a:ext cx="5303837" cy="4343400"/>
          </a:xfr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83D586A-9DCB-8334-A877-6194DD8A43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77340"/>
            <a:ext cx="5303838" cy="4526280"/>
          </a:xfrm>
        </p:spPr>
      </p:pic>
    </p:spTree>
    <p:extLst>
      <p:ext uri="{BB962C8B-B14F-4D97-AF65-F5344CB8AC3E}">
        <p14:creationId xmlns:p14="http://schemas.microsoft.com/office/powerpoint/2010/main" val="1759697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2B33-055F-0A34-BD8C-F27DE285A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799" cy="984885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Bivariate Analysis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Average Views by Category            Average Likes by Category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F5DB13-0912-46FE-ED52-0DB1AF502F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27" y="1752600"/>
            <a:ext cx="5303838" cy="399621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AD149D-EA31-73D8-F4D5-EA3BEB7997EE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2" y="1859653"/>
            <a:ext cx="5303837" cy="3889165"/>
          </a:xfrm>
        </p:spPr>
      </p:pic>
    </p:spTree>
    <p:extLst>
      <p:ext uri="{BB962C8B-B14F-4D97-AF65-F5344CB8AC3E}">
        <p14:creationId xmlns:p14="http://schemas.microsoft.com/office/powerpoint/2010/main" val="2996219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261B-A5EE-9522-8730-8E3E7626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08158"/>
            <a:ext cx="10972801" cy="49244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views by Weekdays             	Views VS Likes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45F6D5-07F6-1A16-110E-19E7E46F6A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30372"/>
            <a:ext cx="5303838" cy="3808428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B0BB2AC-59A1-3792-F9B9-400EEB3EAA1C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3" y="1830372"/>
            <a:ext cx="5303837" cy="4021168"/>
          </a:xfrm>
        </p:spPr>
      </p:pic>
    </p:spTree>
    <p:extLst>
      <p:ext uri="{BB962C8B-B14F-4D97-AF65-F5344CB8AC3E}">
        <p14:creationId xmlns:p14="http://schemas.microsoft.com/office/powerpoint/2010/main" val="3777435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048B-D843-0346-50B3-AA4C8E72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1" y="304800"/>
            <a:ext cx="6019800" cy="67710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vs Comment Count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328D02-5669-DAE0-BF2F-1A1107011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447800"/>
            <a:ext cx="5303838" cy="4531960"/>
          </a:xfrm>
        </p:spPr>
      </p:pic>
    </p:spTree>
    <p:extLst>
      <p:ext uri="{BB962C8B-B14F-4D97-AF65-F5344CB8AC3E}">
        <p14:creationId xmlns:p14="http://schemas.microsoft.com/office/powerpoint/2010/main" val="2262308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7583-E7AB-B3E4-DD33-908F0227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972801" cy="984885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Multivariate Analysis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Correlation Heatmap                        	Pair plot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2DB496-F3A4-FA4A-0A0C-E42EC04FC6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28" y="1577975"/>
            <a:ext cx="5105582" cy="4525963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8B8374-DD10-F8AA-1F54-02ABB7066140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660" y="1577975"/>
            <a:ext cx="4509643" cy="4365625"/>
          </a:xfrm>
        </p:spPr>
      </p:pic>
    </p:spTree>
    <p:extLst>
      <p:ext uri="{BB962C8B-B14F-4D97-AF65-F5344CB8AC3E}">
        <p14:creationId xmlns:p14="http://schemas.microsoft.com/office/powerpoint/2010/main" val="329509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F1F54-1C2D-8B23-832C-BB0D36914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53" y="457201"/>
            <a:ext cx="10441904" cy="575542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Views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and KDE plots show: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videos get low-to-medium views.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videos reach extremely high views → viral videos.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confirms natural popularity curve.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Likes Distribution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 follow a similar right-skewed pattern.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videos get moderate likes.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videos receive exceptionally high likes.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Likes Distribution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 follow a similar right-skewed pattern.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videos get moderate likes.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Viral videos receive exceptionally high likes.</a:t>
            </a:r>
          </a:p>
        </p:txBody>
      </p:sp>
    </p:spTree>
    <p:extLst>
      <p:ext uri="{BB962C8B-B14F-4D97-AF65-F5344CB8AC3E}">
        <p14:creationId xmlns:p14="http://schemas.microsoft.com/office/powerpoint/2010/main" val="2996942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77E12D-4731-0278-69DB-BE53373E6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533400"/>
            <a:ext cx="10899775" cy="541686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Comments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distribution is very skewed.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videos have limited comments.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few videos have extremely high comments.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correlates with viewership and engagement levels.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Distribution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Countplot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“Entertainment”, “Music”, “People &amp; Blogs”, and “News &amp; Politics” dominate trending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niches like “Education” and “Travel” appear less often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trending section favors high-engagement categories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Hour Distribution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videos are published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PM to 8 PM.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uploads seem to get more engagement.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morning hours have very low publishing frequency.</a:t>
            </a:r>
          </a:p>
        </p:txBody>
      </p:sp>
    </p:spTree>
    <p:extLst>
      <p:ext uri="{BB962C8B-B14F-4D97-AF65-F5344CB8AC3E}">
        <p14:creationId xmlns:p14="http://schemas.microsoft.com/office/powerpoint/2010/main" val="1562539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F85E9B-29E2-5E52-AA08-4A1069654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381000"/>
            <a:ext cx="10440988" cy="5463778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Weekday Distribution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Videos trend across all days.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 (Saturday-Sunday) show a slight drop.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 have more uploads and engagement.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– Views vs Likes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views increase, likes also increase.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high user engagement.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vs Comment Count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 is visible.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Videos with high views naturally attract more comments.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vs Views (Boxen Plot)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“Entertainment” &amp; “Music” have the highest median 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categories have very wide spread → Viral potential</a:t>
            </a:r>
          </a:p>
        </p:txBody>
      </p:sp>
    </p:spTree>
    <p:extLst>
      <p:ext uri="{BB962C8B-B14F-4D97-AF65-F5344CB8AC3E}">
        <p14:creationId xmlns:p14="http://schemas.microsoft.com/office/powerpoint/2010/main" val="3844574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179B5-66C5-12B6-2A3A-1C962E083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52" y="457200"/>
            <a:ext cx="10823847" cy="5109091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vs Likes (Violin Plot)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 follow similar trends to views.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 category tops engagement.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Features – Average Views by Hour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Videos posted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PM – 7 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 highest average views.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night/early morning uploads get low engagement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Views by Weekday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Monday &amp; Tuesday have high engagement.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 views drop slightly.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days to post videos: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Monday, Wednesday, Friday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543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27E70E-F55F-613C-A53A-6E34FCFB4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457200"/>
            <a:ext cx="10671175" cy="4801314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↔ Likes → Strong positive 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↔ Comments → Strong 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features have weaker correlations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metrics strongly impact popularity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Pairplot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combined relationships: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pattern between views, likes, comments.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consistency among engagement 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earlier conclusions</a:t>
            </a:r>
          </a:p>
        </p:txBody>
      </p:sp>
    </p:spTree>
    <p:extLst>
      <p:ext uri="{BB962C8B-B14F-4D97-AF65-F5344CB8AC3E}">
        <p14:creationId xmlns:p14="http://schemas.microsoft.com/office/powerpoint/2010/main" val="854870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876C-642A-9AB3-8554-FEF5A4EFA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53" y="609600"/>
            <a:ext cx="10441903" cy="6959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EFEE7-7D3B-BC08-E27D-1833F6F07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9" y="1828800"/>
            <a:ext cx="7010401" cy="3124199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skewed engagement patterns.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categories: Entertainment, Music.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upload time: Evening hours.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weekdays: Midweek days.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 &amp; comments strongly tied to popularity.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Trending section favors fast-engaging videos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169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5C1A-9C89-3244-DFAE-8829117F2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366647" cy="6959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43BE1E-9351-C0DE-AA29-522FA6080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600200"/>
            <a:ext cx="83820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cleaned &amp; analyzed a large real-world dataset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Extracted time-based behavioral insights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trending patterns and engagement relationships</a:t>
            </a:r>
          </a:p>
        </p:txBody>
      </p:sp>
    </p:spTree>
    <p:extLst>
      <p:ext uri="{BB962C8B-B14F-4D97-AF65-F5344CB8AC3E}">
        <p14:creationId xmlns:p14="http://schemas.microsoft.com/office/powerpoint/2010/main" val="856658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7625" y="3000247"/>
            <a:ext cx="236220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pc="320" dirty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lang="en-US" spc="330" dirty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</TotalTime>
  <Words>1485</Words>
  <Application>Microsoft Office PowerPoint</Application>
  <PresentationFormat>Widescreen</PresentationFormat>
  <Paragraphs>189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Courier New</vt:lpstr>
      <vt:lpstr>Palatino Linotype</vt:lpstr>
      <vt:lpstr>Times New Roman</vt:lpstr>
      <vt:lpstr>Wingdings</vt:lpstr>
      <vt:lpstr>Office Theme</vt:lpstr>
      <vt:lpstr>PowerPoint Presentation</vt:lpstr>
      <vt:lpstr>INTRODUCTION</vt:lpstr>
      <vt:lpstr>PROBLEM STATEMENT</vt:lpstr>
      <vt:lpstr>PowerPoint Presentation</vt:lpstr>
      <vt:lpstr>BASIC INFORMATION ABOUT THE DATASET</vt:lpstr>
      <vt:lpstr>PowerPoint Presentation</vt:lpstr>
      <vt:lpstr>Dataset Information </vt:lpstr>
      <vt:lpstr>PowerPoint Presentation</vt:lpstr>
      <vt:lpstr>DATA CLEANING STEPS</vt:lpstr>
      <vt:lpstr>        Univariate Analysis        Distribution of views       Distribution of likes</vt:lpstr>
      <vt:lpstr>Distribution of Comment count      Number of videos per category</vt:lpstr>
      <vt:lpstr>Distribution of Publish Hour         Distribution of Publish Weekday</vt:lpstr>
      <vt:lpstr>    Bivariate Analysis   Average Views by Category            Average Likes by Category</vt:lpstr>
      <vt:lpstr>Average views by Weekdays              Views VS Likes</vt:lpstr>
      <vt:lpstr>Views vs Comment Count </vt:lpstr>
      <vt:lpstr>    Multivariate Analysis       Correlation Heatmap                         Pair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Innomatics</dc:title>
  <dc:creator>ABHIRAM</dc:creator>
  <cp:lastModifiedBy>M Poojitha</cp:lastModifiedBy>
  <cp:revision>16</cp:revision>
  <dcterms:created xsi:type="dcterms:W3CDTF">2025-08-22T13:01:40Z</dcterms:created>
  <dcterms:modified xsi:type="dcterms:W3CDTF">2025-11-25T17:14:18Z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2025-08-22T00:00:00Z</vt:filetime>
  </property>
</Properties>
</file>